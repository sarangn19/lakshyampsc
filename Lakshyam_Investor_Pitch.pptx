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A78BFA"/>
                </a:solidFill>
                <a:latin typeface="Calibri"/>
              </a:defRPr>
            </a:pPr>
            <a:r>
              <a:t>Lakshyam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4B5FD"/>
                </a:solidFill>
                <a:latin typeface="Calibri"/>
              </a:defRPr>
            </a:pPr>
            <a:r>
              <a:t>AI-Powered Kerala PSC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Personalized learning for every aspirant.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Calibri"/>
              </a:defRPr>
            </a:pPr>
            <a:r>
              <a:t>Investor Pitch  |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PSC preparation is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Unknown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Students don't know what to study next. Without a personalized roadmap, they waste time on random topics.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Wasted Repetition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They practice what they already know. Time is spent on familiar topics instead of weak areas.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The Forgetting Curve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Concepts learned weeks ago are forgotten. No system reminds students what they're about to lose.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3035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?  No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6344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No personalized feedback. No tutor who understands their specific gaps. Just static question banks.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One of India's largest recruitment ecosystems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Kerala PSC is among the largest state recruitment ecosystems in India. Hundreds of thousands of candidates compete for government jobs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500K+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Active aspirants/year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10312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5+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Exam 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10312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10,000+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Coaching centers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20624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96%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20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Kerala literacy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20624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80%+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120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Smartphone penetration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06240"/>
            <a:ext cx="292608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78BF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Dedicated PSC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4B5FD"/>
                </a:solidFill>
                <a:latin typeface="Calibri"/>
              </a:defRPr>
            </a:pPr>
            <a:r>
              <a:t>The market is ready. The product doesn't exist yet.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existing solutions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Every student receives the same content. No solution adapts to individual learning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011680"/>
            <a:ext cx="32004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297680" y="2011680"/>
            <a:ext cx="22860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Books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011680"/>
            <a:ext cx="22860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Coaching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2011680"/>
            <a:ext cx="2286000" cy="5486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560320"/>
            <a:ext cx="32004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Personalized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56032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256032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56032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108960"/>
            <a:ext cx="32004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Adaptive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10896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10896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310896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657600"/>
            <a:ext cx="32004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Affordable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65760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65760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365760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4206240"/>
            <a:ext cx="32004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Malayalam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20624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0624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206240"/>
            <a:ext cx="2286000" cy="54864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754880"/>
            <a:ext cx="32004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Always fresh content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475488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475488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754880"/>
            <a:ext cx="2286000" cy="54864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first AI-native learning platform built specifically for Kerala PSC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74720" cy="3200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Personalized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108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AI generates unique questions matched to your exact weak areas — not generic question banks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2011680"/>
            <a:ext cx="3474720" cy="3200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39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Malayalam AI Tutor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9" y="2468880"/>
            <a:ext cx="3108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Ask anything in Malayalam or English. Explains concepts, creates practice, clarifies doubts.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011680"/>
            <a:ext cx="3474720" cy="3200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Adaptive Revision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468880"/>
            <a:ext cx="3108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Knows what you're about to forget and schedules review before you do. Spaced repetition built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Product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Detect</a:t>
            </a:r>
            <a:br/>
            <a:r>
              <a:t>Weakness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Recommend</a:t>
            </a:r>
            <a:br/>
            <a:r>
              <a:t>Next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Generate</a:t>
            </a:r>
            <a:br/>
            <a:r>
              <a:t>Revision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2286000"/>
            <a:ext cx="1828800" cy="9144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4B5FD"/>
                </a:solidFill>
                <a:latin typeface="Calibri"/>
              </a:defRPr>
            </a:pPr>
            <a:r>
              <a:t>Improve</a:t>
            </a:r>
            <a:br/>
            <a: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4B5FD"/>
                </a:solidFill>
                <a:latin typeface="Calibri"/>
              </a:defRPr>
            </a:pPr>
            <a:r>
              <a:t>"Every interaction trains the model. No two students see the same path."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Every interaction creates learning data. This is a network-effects data moat that compounds over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01168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More students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78892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Better understanding of PSC learning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56616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Better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160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434340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C4B5FD"/>
                </a:solidFill>
                <a:latin typeface="Calibri"/>
              </a:defRPr>
            </a:pPr>
            <a:r>
              <a:t>Better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5120640"/>
            <a:ext cx="5943600" cy="59436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More students -&gt; cycle repeats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486400"/>
            <a:ext cx="5303520" cy="10972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What we continuously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What each student knows · What they're forgetting · What they should learn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486400"/>
            <a:ext cx="5303520" cy="10972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5623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The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9436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Higher retention · Faster exam readiness · Competitors can't replicate years of learning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Competitive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114800" cy="6400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Capability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828800"/>
            <a:ext cx="2743200" cy="6400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Lakshyam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828800"/>
            <a:ext cx="2743200" cy="6400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Others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468880"/>
            <a:ext cx="41148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Kerala PSC Focus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46888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46888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BF24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108960"/>
            <a:ext cx="41148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Malayalam AI Tutor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310896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10896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BF24"/>
                </a:solidFill>
                <a:latin typeface="Calibri"/>
              </a:defRPr>
            </a:pPr>
            <a:r>
              <a:t>Limited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749040"/>
            <a:ext cx="41148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Adaptive Learning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374904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3749040"/>
            <a:ext cx="2743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7185"/>
                </a:solidFill>
                <a:latin typeface="Calibri"/>
              </a:defRPr>
            </a:pPr>
            <a:r>
              <a:t>Rare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89120"/>
            <a:ext cx="41148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CCCCCC"/>
                </a:solidFill>
                <a:latin typeface="Calibri"/>
              </a:defRPr>
            </a:pPr>
            <a:r>
              <a:t>Personalized Revision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38912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389120"/>
            <a:ext cx="2743200" cy="640080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B7185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Monetization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34747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AI-generated questions, basic analytics, daily current affairs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4D399"/>
                </a:solidFill>
                <a:latin typeface="Calibri"/>
              </a:defRPr>
            </a:pPr>
            <a:r>
              <a:t>Rs.0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005840"/>
            <a:ext cx="34747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46304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Unlimited questions, offline question bank, priority AI, detailed analytics, ad-free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BBF24"/>
                </a:solidFill>
                <a:latin typeface="Calibri"/>
              </a:defRPr>
            </a:pPr>
            <a:r>
              <a:t>Rs.199/mo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05840"/>
            <a:ext cx="34747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43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Unit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46304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29600" y="1280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000">
                <a:solidFill>
                  <a:srgbClr val="CCCCCC"/>
                </a:solidFill>
                <a:latin typeface="Calibri"/>
              </a:defRPr>
            </a:pPr>
            <a:r>
              <a:t>▸  AI cost: ~Rs.0.001/question</a:t>
            </a:r>
          </a:p>
          <a:p>
            <a:pPr>
              <a:spcBef>
                <a:spcPts val="400"/>
              </a:spcBef>
              <a:defRPr sz="1000">
                <a:solidFill>
                  <a:srgbClr val="CCCCCC"/>
                </a:solidFill>
                <a:latin typeface="Calibri"/>
              </a:defRPr>
            </a:pPr>
            <a:r>
              <a:t>▸  Premium: 99.85% gross margin</a:t>
            </a:r>
          </a:p>
          <a:p>
            <a:pPr>
              <a:spcBef>
                <a:spcPts val="400"/>
              </a:spcBef>
              <a:defRPr sz="1000">
                <a:solidFill>
                  <a:srgbClr val="CCCCCC"/>
                </a:solidFill>
                <a:latin typeface="Calibri"/>
              </a:defRPr>
            </a:pPr>
            <a:r>
              <a:t>▸  GPT-4o-mini: 97.5% 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834640"/>
            <a:ext cx="2560320" cy="2377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834640"/>
            <a:ext cx="1828800" cy="2377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834640"/>
            <a:ext cx="1828800" cy="2377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834640"/>
            <a:ext cx="1828800" cy="2377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072384"/>
            <a:ext cx="256032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Free Users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072384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3072384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50,000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072384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200,000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310128"/>
            <a:ext cx="256032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Paid Conversion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10128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3310128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310128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547872"/>
            <a:ext cx="256032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Paying Users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3547872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3547872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2,500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3547872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16,000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785616"/>
            <a:ext cx="256032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ARPU (Monthly)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785616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Rs.199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3785616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Rs.249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3785616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Rs.299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023360"/>
            <a:ext cx="2560320" cy="237744"/>
          </a:xfrm>
          <a:prstGeom prst="rect">
            <a:avLst/>
          </a:prstGeom>
          <a:solidFill>
            <a:srgbClr val="15152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B5FD"/>
                </a:solidFill>
                <a:latin typeface="Calibri"/>
              </a:defRPr>
            </a:pPr>
            <a:r>
              <a:t>Subscription Revenue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4023360"/>
            <a:ext cx="1828800" cy="237744"/>
          </a:xfrm>
          <a:prstGeom prst="rect">
            <a:avLst/>
          </a:prstGeom>
          <a:solidFill>
            <a:srgbClr val="15152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B5FD"/>
                </a:solidFill>
                <a:latin typeface="Calibri"/>
              </a:defRPr>
            </a:pPr>
            <a:r>
              <a:t>Rs.11.9L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4023360"/>
            <a:ext cx="1828800" cy="237744"/>
          </a:xfrm>
          <a:prstGeom prst="rect">
            <a:avLst/>
          </a:prstGeom>
          <a:solidFill>
            <a:srgbClr val="15152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B5FD"/>
                </a:solidFill>
                <a:latin typeface="Calibri"/>
              </a:defRPr>
            </a:pPr>
            <a:r>
              <a:t>Rs.74.7L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023360"/>
            <a:ext cx="1828800" cy="237744"/>
          </a:xfrm>
          <a:prstGeom prst="rect">
            <a:avLst/>
          </a:prstGeom>
          <a:solidFill>
            <a:srgbClr val="15152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B5FD"/>
                </a:solidFill>
                <a:latin typeface="Calibri"/>
              </a:defRPr>
            </a:pPr>
            <a:r>
              <a:t>Rs.5.74Cr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261104"/>
            <a:ext cx="256032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Coaching SaaS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4261104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0" y="4261104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Rs.15L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261104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Rs.75L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4498848"/>
            <a:ext cx="256032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4498848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0" y="4498848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Rs.5L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4498848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Rs.30L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4736592"/>
            <a:ext cx="256032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Marketplace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0" y="4736592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4736592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Rs.2L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4736592"/>
            <a:ext cx="1828800" cy="237744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Rs.20L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4974336"/>
            <a:ext cx="256032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BBF24"/>
                </a:solidFill>
                <a:latin typeface="Calibri"/>
              </a:defRPr>
            </a:pPr>
            <a:r>
              <a:t>Advertising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4974336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BBF24"/>
                </a:solidFill>
                <a:latin typeface="Calibri"/>
              </a:defRPr>
            </a:pPr>
            <a:r>
              <a:t>Rs.1L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20640" y="4974336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BBF24"/>
                </a:solidFill>
                <a:latin typeface="Calibri"/>
              </a:defRPr>
            </a:pPr>
            <a:r>
              <a:t>Rs.5L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9440" y="4974336"/>
            <a:ext cx="1828800" cy="237744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BBF24"/>
                </a:solidFill>
                <a:latin typeface="Calibri"/>
              </a:defRPr>
            </a:pPr>
            <a:r>
              <a:t>Rs.15L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5212080"/>
            <a:ext cx="2560320" cy="237744"/>
          </a:xfrm>
          <a:prstGeom prst="rect">
            <a:avLst/>
          </a:prstGeom>
          <a:solidFill>
            <a:srgbClr val="2A2A4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Total Revenue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91840" y="5212080"/>
            <a:ext cx="1828800" cy="237744"/>
          </a:xfrm>
          <a:prstGeom prst="rect">
            <a:avLst/>
          </a:prstGeom>
          <a:solidFill>
            <a:srgbClr val="2A2A4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Rs.12.9L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0" y="5212080"/>
            <a:ext cx="1828800" cy="237744"/>
          </a:xfrm>
          <a:prstGeom prst="rect">
            <a:avLst/>
          </a:prstGeom>
          <a:solidFill>
            <a:srgbClr val="2A2A4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Rs.1.02Cr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5212080"/>
            <a:ext cx="1828800" cy="237744"/>
          </a:xfrm>
          <a:prstGeom prst="rect">
            <a:avLst/>
          </a:prstGeom>
          <a:solidFill>
            <a:srgbClr val="2A2A4A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Rs.7.14Cr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28346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Monthly Revenue Stages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0" y="3063240"/>
            <a:ext cx="164592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Stage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063240"/>
            <a:ext cx="109728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01200" y="3063240"/>
            <a:ext cx="137160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MRR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58000" y="3264408"/>
            <a:ext cx="164592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MVP Launch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264408"/>
            <a:ext cx="109728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3264408"/>
            <a:ext cx="13716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Rs.19.9K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58000" y="3465576"/>
            <a:ext cx="164592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Milestone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3465576"/>
            <a:ext cx="109728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01200" y="3465576"/>
            <a:ext cx="137160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Rs.99.5K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0" y="3666744"/>
            <a:ext cx="164592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PM-Fit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03920" y="3666744"/>
            <a:ext cx="109728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2,500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01200" y="3666744"/>
            <a:ext cx="13716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Rs.6.2L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3867912"/>
            <a:ext cx="164592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03920" y="3867912"/>
            <a:ext cx="109728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01200" y="3867912"/>
            <a:ext cx="137160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Rs.12.4L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58000" y="4069080"/>
            <a:ext cx="164592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3920" y="4069080"/>
            <a:ext cx="109728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601200" y="4069080"/>
            <a:ext cx="13716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Rs.24.9L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0" y="4270248"/>
            <a:ext cx="164592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Expansion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03920" y="4270248"/>
            <a:ext cx="109728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16,000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01200" y="4270248"/>
            <a:ext cx="137160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Rs.47.8L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0" y="45720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Investor Summary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0" y="4800600"/>
            <a:ext cx="91440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Year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4800600"/>
            <a:ext cx="118872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61120" y="4800600"/>
            <a:ext cx="109728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Expenses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058400" y="4800600"/>
            <a:ext cx="914400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EBITDA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858000" y="5001768"/>
            <a:ext cx="9144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Y1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72400" y="5001768"/>
            <a:ext cx="118872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Rs.12.9L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61120" y="5001768"/>
            <a:ext cx="109728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Rs.6L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058400" y="5001768"/>
            <a:ext cx="9144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Rs.6.9L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858000" y="5202936"/>
            <a:ext cx="91440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Y2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0" y="5202936"/>
            <a:ext cx="118872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Rs.1.02Cr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61120" y="5202936"/>
            <a:ext cx="109728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Rs.35L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058400" y="5202936"/>
            <a:ext cx="914400" cy="201168"/>
          </a:xfrm>
          <a:prstGeom prst="rect">
            <a:avLst/>
          </a:prstGeom>
          <a:solidFill>
            <a:srgbClr val="151528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Rs.67L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858000" y="5404104"/>
            <a:ext cx="9144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Y3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72400" y="5404104"/>
            <a:ext cx="118872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Rs.7.14Cr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61120" y="5404104"/>
            <a:ext cx="109728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CCCCCC"/>
                </a:solidFill>
                <a:latin typeface="Calibri"/>
              </a:defRPr>
            </a:pPr>
            <a:r>
              <a:t>Rs.1.9Cr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058400" y="5404104"/>
            <a:ext cx="914400" cy="201168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34D399"/>
                </a:solidFill>
                <a:latin typeface="Calibri"/>
              </a:defRPr>
            </a:pPr>
            <a:r>
              <a:t>Rs.5.24Cr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1520" y="5120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888888"/>
                </a:solidFill>
                <a:latin typeface="Calibri"/>
              </a:defRPr>
            </a:pPr>
            <a:r>
              <a:t>Conservative scenario: 35K users Y2 (Rs.52L) / 100K Y3 (Rs.2.2Cr). Upside exceeds Rs.5Cr ARR if conversion and retention outperform.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Go-To-Market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PSC Telegram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Largest organic community of active aspirants. Direct access to target users at zero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YouTube Creators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Partner with PSC-focused YouTube creators for reviews, tutorials, and referral campaigns.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Campus Ambassadors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College students preparing for PSC as brand advocates. Peer-driven organic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931920"/>
            <a:ext cx="53035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Referral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38912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Viral growth through aspirant networks. Each user brings 2-3 peers preparing for same exams.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789920" cy="100584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Coaching Partnerships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9436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White-label solution for 10,000+ coaching centers in Kerala. Reach their existing student base.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Working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Live on Vercel. Full AI question generation pipeline operational.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AI Question 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1,500+ questions per day free capacity. Multi-provider pipeline ensures uptime.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Mobile App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iOS + Android + Web from a single React Native codebase. Offline-first.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657600"/>
            <a:ext cx="5303520" cy="164592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794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1480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Content management, analytics, learner support, current affairs publishing.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BBF24"/>
                </a:solidFill>
                <a:latin typeface="Calibri"/>
              </a:defRPr>
            </a:pPr>
            <a:r>
              <a:t>Next: Play Store / App Store launch  ·  Premium features  ·  Coaching center partnerships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From Kerala PSC to India's exam prep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3657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31089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LDC, Secretariat Assistant, University Assistant, Police, Degree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4B5FD"/>
                </a:solidFill>
                <a:latin typeface="Calibri"/>
              </a:defRPr>
            </a:pPr>
            <a:r>
              <a:t>Kerala PSC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28800"/>
            <a:ext cx="3474720" cy="3657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39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39" y="2286000"/>
            <a:ext cx="31089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Tamil Nadu PSC  ·  Karnataka PSC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BBF24"/>
                </a:solidFill>
                <a:latin typeface="Calibri"/>
              </a:defRPr>
            </a:pPr>
            <a:r>
              <a:t>Other State PSCs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828800"/>
            <a:ext cx="3474720" cy="36576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310896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SSC  ·  Railway  ·  Banking  ·  UPSC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National Exams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1148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AI Cost Collapse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1089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78BFA"/>
                </a:solidFill>
                <a:latin typeface="Calibri"/>
              </a:defRPr>
            </a:pPr>
            <a:r>
              <a:t>99.85%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High-quality educational content can now be generated at near-zero cost. This wasn't possible 2 years ago.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645920"/>
            <a:ext cx="3474720" cy="41148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39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Regional-Language Boom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2103120"/>
            <a:ext cx="31089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480559" y="22860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BBF24"/>
                </a:solidFill>
                <a:latin typeface="Calibri"/>
              </a:defRPr>
            </a:pPr>
            <a:r>
              <a:t>96%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32004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Malayalam digital content consumption is growing rapidly. Students expect content in their own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474720" cy="41148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2A2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Personalization Expectation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1089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0" y="22860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004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Students expect personalized feeds (Instagram, YouTube, Netflix). They now expect the same from education.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4B5FD"/>
                </a:solidFill>
                <a:latin typeface="Calibri"/>
              </a:defRPr>
            </a:pPr>
            <a:r>
              <a:t>The window to establish a regional-language AI learning platform is now.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A78BF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4B5FD"/>
                </a:solidFill>
                <a:latin typeface="Calibri"/>
              </a:defRPr>
            </a:pPr>
            <a:r>
              <a:t>Lakshyam — AI-Powered Kerala PSC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Built by a solo developer  ·  React Native + Supabase + Vercel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