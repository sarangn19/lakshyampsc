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A78BFA"/>
                </a:solidFill>
                <a:latin typeface="Calibri"/>
              </a:defRPr>
            </a:pPr>
            <a:r>
              <a:t>Lakshyam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A78BFA"/>
                </a:solidFill>
                <a:latin typeface="Calibri"/>
              </a:defRPr>
            </a:pPr>
            <a:r>
              <a:t>Your AI Coach for Kerala PSC Exams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Calibri"/>
              </a:defRPr>
            </a:pPr>
            <a:r>
              <a:t>AI-native exam preparation platform  ·  iOS  ·  Android  · 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486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  <a:latin typeface="Calibri"/>
              </a:defRPr>
            </a:pPr>
            <a:r>
              <a:t>Investor Pitch  |  June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1/16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1M+ aspirants, zero modern tools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303520" cy="22860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📊  Massive 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9377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1M+ applicants every year for Kerala PSC exams. Lakhs compete for hundreds of vacancies. No digital platform exists for this segment.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303520" cy="22860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📚  Outdated Solutions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9377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Printed books, coaching centers, and generic exam apps. Nothing built specifically for Kerala PSC syllabus or Malayalam-speaking users.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5303520" cy="22860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3434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🧠  One-Size-Fits-None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663440"/>
            <a:ext cx="49377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Static question banks. No personalization. No adaptive learning. Every student, regardless of ability, gets the same content.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206240"/>
            <a:ext cx="5303520" cy="22860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3434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🌐  Language &amp; Access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663440"/>
            <a:ext cx="49377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Most tools are English-only. Kerala aspirants need Malayalam support. Rural users need offline access. Existing solutions fail on all fronts.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2/16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Full-stack AI learning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Fresh AI-generated questions  ·  Cognitive twin  ·  Adaptive engine  ·  Spaced repetition  ·  Offline-first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474720" cy="21031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🤖  AI Question Generator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3108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Fresh questions for any subject, topic, or difficulty — in English or Malayalam. Multi-model pipeline (Groq → Gemini → OpenRouter).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920240"/>
            <a:ext cx="3474720" cy="21031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39" y="2057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🧬  Cognitive Twin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39" y="2377440"/>
            <a:ext cx="3108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A digital replica of each learner's knowledge. Tracks mastery, forgetting, confidence, and gaps across 47+ subtopics with prerequisite chains.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920240"/>
            <a:ext cx="3474720" cy="21031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2057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🎯  Adaptive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377440"/>
            <a:ext cx="3108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Bayesian Knowledge Tracing selects optimal next question. Real-time difficulty adjustment. Learns from every answer.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97680"/>
            <a:ext cx="3474720" cy="21031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34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⏰  Spaced Repetition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754880"/>
            <a:ext cx="3108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SM-2 algorithm schedules reviews at optimal intervals (1, 3, 7, 14, 30, 60, 120, 240 days). Retention dashboard.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59" y="4297680"/>
            <a:ext cx="3474720" cy="21031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39" y="4434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💬  AI Tutor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39" y="4754880"/>
            <a:ext cx="3108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Kerala PSC context-aware chatbot. Understands Malayalam. Explains concepts, generates practice questions on demand.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4297680"/>
            <a:ext cx="3474720" cy="21031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4434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📰  Current Affairs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754880"/>
            <a:ext cx="3108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Auto-fetched daily from NewsAPI. Categorized (Kerala / National / Schemes / Appointments / Awards). With images.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3/16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Every answer trains the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1645920" cy="9144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 b="1">
                <a:solidFill>
                  <a:srgbClr val="C4B5FD"/>
                </a:solidFill>
                <a:latin typeface="Calibri"/>
              </a:defRPr>
            </a:pPr>
            <a:r>
              <a:t>Student answers</a:t>
            </a:r>
            <a:br/>
            <a:r>
              <a:t>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256032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8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4600" y="2286000"/>
            <a:ext cx="1645920" cy="9144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 b="1">
                <a:solidFill>
                  <a:srgbClr val="C4B5FD"/>
                </a:solidFill>
                <a:latin typeface="Calibri"/>
              </a:defRPr>
            </a:pPr>
            <a:r>
              <a:t>Cognitive Twin</a:t>
            </a:r>
            <a:br/>
            <a:r>
              <a:t>updates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256032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8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286000"/>
            <a:ext cx="1645920" cy="9144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 b="1">
                <a:solidFill>
                  <a:srgbClr val="C4B5FD"/>
                </a:solidFill>
                <a:latin typeface="Calibri"/>
              </a:defRPr>
            </a:pPr>
            <a:r>
              <a:t>Adaptive Engine</a:t>
            </a:r>
            <a:br/>
            <a:r>
              <a:t>picks next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56032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8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286000"/>
            <a:ext cx="1645920" cy="9144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 b="1">
                <a:solidFill>
                  <a:srgbClr val="C4B5FD"/>
                </a:solidFill>
                <a:latin typeface="Calibri"/>
              </a:defRPr>
            </a:pPr>
            <a:r>
              <a:t>AI generates</a:t>
            </a:r>
            <a:br/>
            <a:r>
              <a:t>fresh 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80" y="256032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8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2286000"/>
            <a:ext cx="1645920" cy="9144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 b="1">
                <a:solidFill>
                  <a:srgbClr val="C4B5FD"/>
                </a:solidFill>
                <a:latin typeface="Calibri"/>
              </a:defRPr>
            </a:pPr>
            <a:r>
              <a:t>Validated</a:t>
            </a:r>
            <a:br/>
            <a:r>
              <a:t>&amp; served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256032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8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46920" y="2286000"/>
            <a:ext cx="1645920" cy="9144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 b="1">
                <a:solidFill>
                  <a:srgbClr val="C4B5FD"/>
                </a:solidFill>
                <a:latin typeface="Calibri"/>
              </a:defRPr>
            </a:pPr>
            <a:r>
              <a:t>Spaced Rep</a:t>
            </a:r>
            <a:br/>
            <a:r>
              <a:t>schedules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657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4B5FD"/>
                </a:solidFill>
                <a:latin typeface="Calibri"/>
              </a:defRPr>
            </a:pPr>
            <a:r>
              <a:t>"The system gets smarter with every answer. No two students see the same path."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Core Differentiator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Cognitive Twin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  <a:latin typeface="Calibri"/>
              </a:defRPr>
            </a:pPr>
            <a:r>
              <a:t>A persistent knowledge model across a 3-level syllabus with prerequisite chains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303520" cy="20116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🧠  Syllabus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49377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9 Subjects → 20+ Topics → 47+ Subtopics</a:t>
            </a:r>
            <a:br/>
            <a:r>
              <a:t>Each node has prerequisites, mastery state, and prerequisite-chain validation.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303520" cy="20116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0574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📊  Per-Node Tracking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377440"/>
            <a:ext cx="49377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Mastery score, accuracy, hesitation, forgetting rate</a:t>
            </a:r>
            <a:br/>
            <a:r>
              <a:t>Trend direction (improving / declining / stable)</a:t>
            </a:r>
            <a:br/>
            <a:r>
              <a:t>7-day, 30-day, 90-day retention rates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06240"/>
            <a:ext cx="5303520" cy="22860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3434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🔄  Gap Lifecycle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63440"/>
            <a:ext cx="49377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Open → Improving → Closing → Closed → Retained</a:t>
            </a:r>
            <a:br/>
            <a:r>
              <a:t>Each gap tracked with lifecycle status, confidence calibration, and recommended intervention count.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206240"/>
            <a:ext cx="5303520" cy="22860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3434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🎯  What This Enables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663440"/>
            <a:ext cx="49377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Know exactly what each student is about to forget</a:t>
            </a:r>
            <a:br/>
            <a:r>
              <a:t>Prioritize gaps that matter for their target exam</a:t>
            </a:r>
            <a:br/>
            <a:r>
              <a:t>Measure real learning progress, not just question count</a:t>
            </a:r>
            <a:br/>
            <a:r>
              <a:t>Weighted recommendations combining weakness, forgetting, exam blueprint, and learner stage.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5/16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AI Multi-Model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4D399"/>
                </a:solidFill>
                <a:latin typeface="Calibri"/>
              </a:defRPr>
            </a:pPr>
            <a:r>
              <a:t>No single point of failure. No expensive vendor lock-in. $0 AI inference cost at current scale.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2011680"/>
            <a:ext cx="5943600" cy="9144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A78BFA"/>
                </a:solidFill>
                <a:latin typeface="Calibri"/>
              </a:defRPr>
            </a:pPr>
            <a:r>
              <a:t>Groq — Primary</a:t>
            </a:r>
          </a:p>
          <a:p>
            <a:pPr algn="ctr">
              <a:spcBef>
                <a:spcPts val="600"/>
              </a:spcBef>
              <a:defRPr sz="1300" b="0">
                <a:solidFill>
                  <a:srgbClr val="CCCCCC"/>
                </a:solidFill>
                <a:latin typeface="Calibri"/>
              </a:defRPr>
            </a:pPr>
            <a:r>
              <a:t>Llama 3.1 8B  |  30 req/min free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▼  fallback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3200400"/>
            <a:ext cx="5943600" cy="9144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BBF24"/>
                </a:solidFill>
                <a:latin typeface="Calibri"/>
              </a:defRPr>
            </a:pPr>
            <a:r>
              <a:t>OpenRouter — Fallback 1</a:t>
            </a:r>
          </a:p>
          <a:p>
            <a:pPr algn="ctr">
              <a:spcBef>
                <a:spcPts val="600"/>
              </a:spcBef>
              <a:defRPr sz="1300" b="0">
                <a:solidFill>
                  <a:srgbClr val="CCCCCC"/>
                </a:solidFill>
                <a:latin typeface="Calibri"/>
              </a:defRPr>
            </a:pPr>
            <a:r>
              <a:t>Gemini 2.0 Flash Lite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4114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▼  fallback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4389120"/>
            <a:ext cx="5943600" cy="9144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4D399"/>
                </a:solidFill>
                <a:latin typeface="Calibri"/>
              </a:defRPr>
            </a:pPr>
            <a:r>
              <a:t>Gemini Direct — Fallback 2</a:t>
            </a:r>
          </a:p>
          <a:p>
            <a:pPr algn="ctr">
              <a:spcBef>
                <a:spcPts val="600"/>
              </a:spcBef>
              <a:defRPr sz="1300" b="0">
                <a:solidFill>
                  <a:srgbClr val="CCCCCC"/>
                </a:solidFill>
                <a:latin typeface="Calibri"/>
              </a:defRPr>
            </a:pPr>
            <a:r>
              <a:t>Gemini 2.0 Flash  |  1,500 req/day free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0292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A78BFA"/>
                </a:solidFill>
                <a:latin typeface="Calibri"/>
              </a:defRPr>
            </a:pPr>
            <a:r>
              <a:t>1,500+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577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Calibri"/>
              </a:defRPr>
            </a:pPr>
            <a:r>
              <a:t>Questions/day free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50292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A78BF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5577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Calibri"/>
              </a:defRPr>
            </a:pPr>
            <a:r>
              <a:t>AI providers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50292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A78BFA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5577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Calibri"/>
              </a:defRPr>
            </a:pPr>
            <a:r>
              <a:t>Inference 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Student Screens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474720" cy="14630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📊 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Progress, accuracy, streak, due reviews, subject breakdown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554480"/>
            <a:ext cx="3474720" cy="14630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39" y="1691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🎯  MCQ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39" y="2011680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AI-generated questions, confidence tracking, timer, flag/report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554480"/>
            <a:ext cx="3474720" cy="14630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691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🃏  Flashcards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011680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SM-2 spaced repetition, flip &amp; rate, mastery tracking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91839"/>
            <a:ext cx="3474720" cy="14630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42899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🗺️  Knowledge 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49039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3-level tree with mastery heatmap, prerequisite warnings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59" y="3291839"/>
            <a:ext cx="3474720" cy="14630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39" y="342899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💬  AI Tutor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39" y="3749039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Malayalam/English chatbot, explains concepts, generates practice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3291839"/>
            <a:ext cx="3474720" cy="14630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342899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📈  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749039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Gap lifecycle, retention curves, confidence calibration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029200"/>
            <a:ext cx="3474720" cy="14630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166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📰  Current Affairs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486400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Daily news with images, categorized, exam-relevant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59" y="5029200"/>
            <a:ext cx="3474720" cy="14630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39" y="5166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🏆  Retention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39" y="5486400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Heat maps, sparklines, due/at-risk subtopics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5029200"/>
            <a:ext cx="3474720" cy="14630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5166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🎯  Goal Tracker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5486400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Exam roadmaps with phases, daily targets, study streak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Admin &amp; Superadmin Portals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303520" cy="32004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🛠️  Admin Portal — 8 Tabs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93776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CCCCCC"/>
                </a:solidFill>
                <a:latin typeface="Calibri"/>
              </a:defRPr>
            </a:pPr>
            <a:r>
              <a:t>▸  Dashboard — Platform metrics and overview</a:t>
            </a:r>
          </a:p>
          <a:p>
            <a:pPr>
              <a:spcBef>
                <a:spcPts val="400"/>
              </a:spcBef>
              <a:defRPr sz="1100">
                <a:solidFill>
                  <a:srgbClr val="CCCCCC"/>
                </a:solidFill>
                <a:latin typeface="Calibri"/>
              </a:defRPr>
            </a:pPr>
            <a:r>
              <a:t>▸  Question Management — Full CRUD for question bank</a:t>
            </a:r>
          </a:p>
          <a:p>
            <a:pPr>
              <a:spcBef>
                <a:spcPts val="400"/>
              </a:spcBef>
              <a:defRPr sz="1100">
                <a:solidFill>
                  <a:srgbClr val="CCCCCC"/>
                </a:solidFill>
                <a:latin typeface="Calibri"/>
              </a:defRPr>
            </a:pPr>
            <a:r>
              <a:t>▸  Current Affairs Publishing — Schedule and publish CA</a:t>
            </a:r>
          </a:p>
          <a:p>
            <a:pPr>
              <a:spcBef>
                <a:spcPts val="400"/>
              </a:spcBef>
              <a:defRPr sz="1100">
                <a:solidFill>
                  <a:srgbClr val="CCCCCC"/>
                </a:solidFill>
                <a:latin typeface="Calibri"/>
              </a:defRPr>
            </a:pPr>
            <a:r>
              <a:t>▸  Content Quality Center — Review pipeline</a:t>
            </a:r>
          </a:p>
          <a:p>
            <a:pPr>
              <a:spcBef>
                <a:spcPts val="400"/>
              </a:spcBef>
              <a:defRPr sz="1100">
                <a:solidFill>
                  <a:srgbClr val="CCCCCC"/>
                </a:solidFill>
                <a:latin typeface="Calibri"/>
              </a:defRPr>
            </a:pPr>
            <a:r>
              <a:t>▸  Question Audit — Flagged question review</a:t>
            </a:r>
          </a:p>
          <a:p>
            <a:pPr>
              <a:spcBef>
                <a:spcPts val="400"/>
              </a:spcBef>
              <a:defRPr sz="1100">
                <a:solidFill>
                  <a:srgbClr val="CCCCCC"/>
                </a:solidFill>
                <a:latin typeface="Calibri"/>
              </a:defRPr>
            </a:pPr>
            <a:r>
              <a:t>▸  Bulk Upload — Batch question import</a:t>
            </a:r>
          </a:p>
          <a:p>
            <a:pPr>
              <a:spcBef>
                <a:spcPts val="400"/>
              </a:spcBef>
              <a:defRPr sz="1100">
                <a:solidFill>
                  <a:srgbClr val="CCCCCC"/>
                </a:solidFill>
                <a:latin typeface="Calibri"/>
              </a:defRPr>
            </a:pPr>
            <a:r>
              <a:t>▸  Learner Support — Ticket management system</a:t>
            </a:r>
          </a:p>
          <a:p>
            <a:pPr>
              <a:spcBef>
                <a:spcPts val="400"/>
              </a:spcBef>
              <a:defRPr sz="1100">
                <a:solidFill>
                  <a:srgbClr val="CCCCCC"/>
                </a:solidFill>
                <a:latin typeface="Calibri"/>
              </a:defRPr>
            </a:pPr>
            <a:r>
              <a:t>▸  Learning Analytics — Aggregate learner analytics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303520" cy="32004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⚡  Superadmin Portal — 8 Tabs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93776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92240" y="210312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CCCCCC"/>
                </a:solidFill>
                <a:latin typeface="Calibri"/>
              </a:defRPr>
            </a:pPr>
            <a:r>
              <a:t>▸  Executive Dashboard — Top-level system KPIs</a:t>
            </a:r>
          </a:p>
          <a:p>
            <a:pPr>
              <a:spcBef>
                <a:spcPts val="400"/>
              </a:spcBef>
              <a:defRPr sz="1100">
                <a:solidFill>
                  <a:srgbClr val="CCCCCC"/>
                </a:solidFill>
                <a:latin typeface="Calibri"/>
              </a:defRPr>
            </a:pPr>
            <a:r>
              <a:t>▸  Cognitive Twin Config — Tune weights (weakness, forgetting, confusion, coverage)</a:t>
            </a:r>
          </a:p>
          <a:p>
            <a:pPr>
              <a:spcBef>
                <a:spcPts val="400"/>
              </a:spcBef>
              <a:defRPr sz="1100">
                <a:solidFill>
                  <a:srgbClr val="CCCCCC"/>
                </a:solidFill>
                <a:latin typeface="Calibri"/>
              </a:defRPr>
            </a:pPr>
            <a:r>
              <a:t>▸  Recommendation Analytics — Monitor recommendation quality</a:t>
            </a:r>
          </a:p>
          <a:p>
            <a:pPr>
              <a:spcBef>
                <a:spcPts val="400"/>
              </a:spcBef>
              <a:defRPr sz="1100">
                <a:solidFill>
                  <a:srgbClr val="CCCCCC"/>
                </a:solidFill>
                <a:latin typeface="Calibri"/>
              </a:defRPr>
            </a:pPr>
            <a:r>
              <a:t>▸  User &amp; Role Management — User CRUD, role assignment</a:t>
            </a:r>
          </a:p>
          <a:p>
            <a:pPr>
              <a:spcBef>
                <a:spcPts val="400"/>
              </a:spcBef>
              <a:defRPr sz="1100">
                <a:solidFill>
                  <a:srgbClr val="CCCCCC"/>
                </a:solidFill>
                <a:latin typeface="Calibri"/>
              </a:defRPr>
            </a:pPr>
            <a:r>
              <a:t>▸  Access Control — Role &amp; permission management</a:t>
            </a:r>
          </a:p>
          <a:p>
            <a:pPr>
              <a:spcBef>
                <a:spcPts val="400"/>
              </a:spcBef>
              <a:defRPr sz="1100">
                <a:solidFill>
                  <a:srgbClr val="CCCCCC"/>
                </a:solidFill>
                <a:latin typeface="Calibri"/>
              </a:defRPr>
            </a:pPr>
            <a:r>
              <a:t>▸  System Monitoring — DB health, sync failures, storage</a:t>
            </a:r>
          </a:p>
          <a:p>
            <a:pPr>
              <a:spcBef>
                <a:spcPts val="400"/>
              </a:spcBef>
              <a:defRPr sz="1100">
                <a:solidFill>
                  <a:srgbClr val="CCCCCC"/>
                </a:solidFill>
                <a:latin typeface="Calibri"/>
              </a:defRPr>
            </a:pPr>
            <a:r>
              <a:t>▸  Experiment Center — A/B testing framework</a:t>
            </a:r>
          </a:p>
          <a:p>
            <a:pPr>
              <a:spcBef>
                <a:spcPts val="400"/>
              </a:spcBef>
              <a:defRPr sz="1100">
                <a:solidFill>
                  <a:srgbClr val="CCCCCC"/>
                </a:solidFill>
                <a:latin typeface="Calibri"/>
              </a:defRPr>
            </a:pPr>
            <a:r>
              <a:t>▸  Audit Logs — Full admin action audit trail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5303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4B5FD"/>
                </a:solidFill>
                <a:latin typeface="Calibri"/>
              </a:defRPr>
            </a:pPr>
            <a:r>
              <a:t>Student →  Admin →  Superadmin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8/16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303520" cy="22860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🎨  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9377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React Native 0.76 + Expo 52  ·  TypeScript</a:t>
            </a:r>
            <a:br/>
            <a:r>
              <a:t>Zustand with AsyncStorage offline persistence</a:t>
            </a:r>
            <a:br/>
            <a:r>
              <a:t>Custom i18n (English + Malayalam)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554480"/>
            <a:ext cx="5303520" cy="22860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691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⚙️  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011680"/>
            <a:ext cx="49377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Supabase (PostgreSQL, Auth, Edge Functions)</a:t>
            </a:r>
            <a:br/>
            <a:r>
              <a:t>16 database migrations, 8 Deno edge functions</a:t>
            </a:r>
            <a:br/>
            <a:r>
              <a:t>Realtime subscriptions for sync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5303520" cy="22860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519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🧠  AI &amp; 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49377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Groq + Gemini + OpenRouter + OpenAI</a:t>
            </a:r>
            <a:br/>
            <a:r>
              <a:t>Bayesian Knowledge Tracing (BKT)</a:t>
            </a:r>
            <a:br/>
            <a:r>
              <a:t>Cognitive twin with gap lifecycle tracking</a:t>
            </a:r>
            <a:br/>
            <a:r>
              <a:t>SM-2 spaced repetition algorithm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4114800"/>
            <a:ext cx="5303520" cy="22860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42519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🌐  Platform &amp; 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572000"/>
            <a:ext cx="49377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iOS + Android + Web — single codebase</a:t>
            </a:r>
            <a:br/>
            <a:r>
              <a:t>Vercel (Web), Expo (Mobile)</a:t>
            </a:r>
            <a:br/>
            <a:r>
              <a:t>~110 source files, 30+ services, 12 stores</a:t>
            </a:r>
            <a:br/>
            <a:r>
              <a:t>Offline-first with background sync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9/16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Massive underserved opportunity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2926080" cy="18288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1031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A78BFA"/>
                </a:solidFill>
                <a:latin typeface="Calibri"/>
              </a:defRPr>
            </a:pPr>
            <a:r>
              <a:t>1M+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8346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Annual PSC applicants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828800"/>
            <a:ext cx="2926080" cy="18288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21031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A78BFA"/>
                </a:solidFill>
                <a:latin typeface="Calibri"/>
              </a:defRPr>
            </a:pPr>
            <a:r>
              <a:t>5+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8346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Exam types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828800"/>
            <a:ext cx="2926080" cy="18288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21031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A78BFA"/>
                </a:solidFill>
                <a:latin typeface="Calibri"/>
              </a:defRPr>
            </a:pPr>
            <a:r>
              <a:t>10,000+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8346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Coaching centers in Kerala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4114800"/>
            <a:ext cx="2926080" cy="18288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3891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A78BFA"/>
                </a:solidFill>
                <a:latin typeface="Calibri"/>
              </a:defRPr>
            </a:pPr>
            <a:r>
              <a:t>96%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1206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Kerala literacy rate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46320" y="4114800"/>
            <a:ext cx="2926080" cy="18288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43891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A78BFA"/>
                </a:solidFill>
                <a:latin typeface="Calibri"/>
              </a:defRPr>
            </a:pPr>
            <a:r>
              <a:t>80%+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51206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Smartphone penetration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4114800"/>
            <a:ext cx="2926080" cy="18288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43891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A78BFA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51206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Dedicated Kerala PSC apps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10/16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Competition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No one else does this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3200400" cy="5029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Capability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1645920"/>
            <a:ext cx="1828800" cy="5029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Lakshyam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1645920"/>
            <a:ext cx="1828800" cy="5029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Generic Apps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1645920"/>
            <a:ext cx="1828800" cy="5029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Coaching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0" y="1645920"/>
            <a:ext cx="1828800" cy="5029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Books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148840"/>
            <a:ext cx="320040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AI-generated questions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2148840"/>
            <a:ext cx="182880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A78BFA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2148840"/>
            <a:ext cx="182880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2148840"/>
            <a:ext cx="182880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0" y="2148840"/>
            <a:ext cx="182880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651760"/>
            <a:ext cx="3200400" cy="502920"/>
          </a:xfrm>
          <a:prstGeom prst="rect">
            <a:avLst/>
          </a:prstGeom>
          <a:solidFill>
            <a:srgbClr val="151528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Adaptive learning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2651760"/>
            <a:ext cx="1828800" cy="502920"/>
          </a:xfrm>
          <a:prstGeom prst="rect">
            <a:avLst/>
          </a:prstGeom>
          <a:solidFill>
            <a:srgbClr val="151528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A78BFA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2651760"/>
            <a:ext cx="1828800" cy="502920"/>
          </a:xfrm>
          <a:prstGeom prst="rect">
            <a:avLst/>
          </a:prstGeom>
          <a:solidFill>
            <a:srgbClr val="151528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2651760"/>
            <a:ext cx="1828800" cy="502920"/>
          </a:xfrm>
          <a:prstGeom prst="rect">
            <a:avLst/>
          </a:prstGeom>
          <a:solidFill>
            <a:srgbClr val="151528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0" y="2651760"/>
            <a:ext cx="1828800" cy="502920"/>
          </a:xfrm>
          <a:prstGeom prst="rect">
            <a:avLst/>
          </a:prstGeom>
          <a:solidFill>
            <a:srgbClr val="151528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3154680"/>
            <a:ext cx="320040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Cognitive twin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0" y="3154680"/>
            <a:ext cx="182880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A78BFA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3154680"/>
            <a:ext cx="182880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0" y="3154680"/>
            <a:ext cx="182880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0" y="3154680"/>
            <a:ext cx="182880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3657600"/>
            <a:ext cx="3200400" cy="502920"/>
          </a:xfrm>
          <a:prstGeom prst="rect">
            <a:avLst/>
          </a:prstGeom>
          <a:solidFill>
            <a:srgbClr val="151528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Malayalam support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0" y="3657600"/>
            <a:ext cx="1828800" cy="502920"/>
          </a:xfrm>
          <a:prstGeom prst="rect">
            <a:avLst/>
          </a:prstGeom>
          <a:solidFill>
            <a:srgbClr val="151528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A78BFA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3657600"/>
            <a:ext cx="1828800" cy="502920"/>
          </a:xfrm>
          <a:prstGeom prst="rect">
            <a:avLst/>
          </a:prstGeom>
          <a:solidFill>
            <a:srgbClr val="151528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0" y="3657600"/>
            <a:ext cx="1828800" cy="502920"/>
          </a:xfrm>
          <a:prstGeom prst="rect">
            <a:avLst/>
          </a:prstGeom>
          <a:solidFill>
            <a:srgbClr val="151528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01200" y="3657600"/>
            <a:ext cx="1828800" cy="502920"/>
          </a:xfrm>
          <a:prstGeom prst="rect">
            <a:avLst/>
          </a:prstGeom>
          <a:solidFill>
            <a:srgbClr val="151528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4160520"/>
            <a:ext cx="320040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Offline-first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0" y="4160520"/>
            <a:ext cx="182880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A78BFA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4160520"/>
            <a:ext cx="182880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0" y="4160520"/>
            <a:ext cx="182880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01200" y="4160520"/>
            <a:ext cx="182880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" y="4663440"/>
            <a:ext cx="3200400" cy="502920"/>
          </a:xfrm>
          <a:prstGeom prst="rect">
            <a:avLst/>
          </a:prstGeom>
          <a:solidFill>
            <a:srgbClr val="151528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Multi-platform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0" y="4663440"/>
            <a:ext cx="1828800" cy="502920"/>
          </a:xfrm>
          <a:prstGeom prst="rect">
            <a:avLst/>
          </a:prstGeom>
          <a:solidFill>
            <a:srgbClr val="151528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A78BFA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4663440"/>
            <a:ext cx="1828800" cy="502920"/>
          </a:xfrm>
          <a:prstGeom prst="rect">
            <a:avLst/>
          </a:prstGeom>
          <a:solidFill>
            <a:srgbClr val="151528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0" y="4663440"/>
            <a:ext cx="1828800" cy="502920"/>
          </a:xfrm>
          <a:prstGeom prst="rect">
            <a:avLst/>
          </a:prstGeom>
          <a:solidFill>
            <a:srgbClr val="151528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01200" y="4663440"/>
            <a:ext cx="1828800" cy="502920"/>
          </a:xfrm>
          <a:prstGeom prst="rect">
            <a:avLst/>
          </a:prstGeom>
          <a:solidFill>
            <a:srgbClr val="151528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" y="5166360"/>
            <a:ext cx="320040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Real-time analytics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0" y="5166360"/>
            <a:ext cx="182880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A78BFA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0" y="5166360"/>
            <a:ext cx="182880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72400" y="5166360"/>
            <a:ext cx="182880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01200" y="5166360"/>
            <a:ext cx="182880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" y="5669280"/>
            <a:ext cx="3200400" cy="502920"/>
          </a:xfrm>
          <a:prstGeom prst="rect">
            <a:avLst/>
          </a:prstGeom>
          <a:solidFill>
            <a:srgbClr val="151528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Cost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0" y="5669280"/>
            <a:ext cx="1828800" cy="502920"/>
          </a:xfrm>
          <a:prstGeom prst="rect">
            <a:avLst/>
          </a:prstGeom>
          <a:solidFill>
            <a:srgbClr val="151528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4D399"/>
                </a:solidFill>
                <a:latin typeface="Calibri"/>
              </a:defRPr>
            </a:pPr>
            <a:r>
              <a:t>Free tier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3600" y="5669280"/>
            <a:ext cx="1828800" cy="502920"/>
          </a:xfrm>
          <a:prstGeom prst="rect">
            <a:avLst/>
          </a:prstGeom>
          <a:solidFill>
            <a:srgbClr val="151528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Paid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0" y="5669280"/>
            <a:ext cx="1828800" cy="502920"/>
          </a:xfrm>
          <a:prstGeom prst="rect">
            <a:avLst/>
          </a:prstGeom>
          <a:solidFill>
            <a:srgbClr val="151528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₹5K-50K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601200" y="5669280"/>
            <a:ext cx="1828800" cy="502920"/>
          </a:xfrm>
          <a:prstGeom prst="rect">
            <a:avLst/>
          </a:prstGeom>
          <a:solidFill>
            <a:srgbClr val="151528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₹500-2K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11/16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Monetization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Business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32004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🎁  Free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310896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AI-generated questions</a:t>
            </a:r>
            <a:br/>
            <a:r>
              <a:t>Basic analytics</a:t>
            </a:r>
            <a:br/>
            <a:r>
              <a:t>Daily current affairs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4D399"/>
                </a:solidFill>
                <a:latin typeface="Calibri"/>
              </a:defRPr>
            </a:pPr>
            <a:r>
              <a:t>₹0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645920"/>
            <a:ext cx="3474720" cy="32004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39" y="1783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⭐  Premium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39" y="2103120"/>
            <a:ext cx="310896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Unlimited questions</a:t>
            </a:r>
            <a:br/>
            <a:r>
              <a:t>Offline question bank</a:t>
            </a:r>
            <a:br/>
            <a:r>
              <a:t>Priority AI generation</a:t>
            </a:r>
            <a:br/>
            <a:r>
              <a:t>Detailed analytics</a:t>
            </a:r>
            <a:br/>
            <a:r>
              <a:t>Ad-free experience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4846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BBF24"/>
                </a:solidFill>
                <a:latin typeface="Calibri"/>
              </a:defRPr>
            </a:pPr>
            <a:r>
              <a:t>₹199/mo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645920"/>
            <a:ext cx="3474720" cy="32004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783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🚀  Pro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103120"/>
            <a:ext cx="310896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All Premium features</a:t>
            </a:r>
            <a:br/>
            <a:r>
              <a:t>Unlimited AI tutor</a:t>
            </a:r>
            <a:br/>
            <a:r>
              <a:t>Cognitive twin deep dive</a:t>
            </a:r>
            <a:br/>
            <a:r>
              <a:t>Study groups &amp; leaderboards</a:t>
            </a:r>
            <a:br/>
            <a:r>
              <a:t>Priority 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846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B7185"/>
                </a:solidFill>
                <a:latin typeface="Calibri"/>
              </a:defRPr>
            </a:pPr>
            <a:r>
              <a:t>₹499/mo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03520"/>
            <a:ext cx="10972800" cy="10972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44068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🏢  Enterprise (planned)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76072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Coaching center white-label solution  ·  Batch management  ·  Custom content  ·  Analytics dashboard  ·  Custom pricing</a:t>
            </a:r>
            <a:br/>
            <a:br/>
            <a:r>
              <a:t>AI cost per question: ~₹0.001 (fraction of a paisa)  |  Coaching centers charge ₹15,000–50,000/year per student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12/16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Revenue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How Lakshyam makes money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303520" cy="13716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📊  Unit Economics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CCCCCC"/>
                </a:solidFill>
                <a:latin typeface="Calibri"/>
              </a:defRPr>
            </a:pPr>
            <a:r>
              <a:t>▸  AI inference cost per question: ₹0.001 (free tier Groq+Gemini)</a:t>
            </a:r>
          </a:p>
          <a:p>
            <a:pPr>
              <a:spcBef>
                <a:spcPts val="400"/>
              </a:spcBef>
              <a:defRPr sz="1100">
                <a:solidFill>
                  <a:srgbClr val="CCCCCC"/>
                </a:solidFill>
                <a:latin typeface="Calibri"/>
              </a:defRPr>
            </a:pPr>
            <a:r>
              <a:t>▸  Monthly active user ~300 questions = ₹0.30 AI cost (free → ₹0)</a:t>
            </a:r>
          </a:p>
          <a:p>
            <a:pPr>
              <a:spcBef>
                <a:spcPts val="400"/>
              </a:spcBef>
              <a:defRPr sz="1100">
                <a:solidFill>
                  <a:srgbClr val="CCCCCC"/>
                </a:solidFill>
                <a:latin typeface="Calibri"/>
              </a:defRPr>
            </a:pPr>
            <a:r>
              <a:t>▸  Premium ₹199/mo → 99.85% gross margin with free APIs</a:t>
            </a:r>
          </a:p>
          <a:p>
            <a:pPr>
              <a:spcBef>
                <a:spcPts val="400"/>
              </a:spcBef>
              <a:defRPr sz="1100">
                <a:solidFill>
                  <a:srgbClr val="CCCCCC"/>
                </a:solidFill>
                <a:latin typeface="Calibri"/>
              </a:defRPr>
            </a:pPr>
            <a:r>
              <a:t>▸  Upgrade to GPT-4o-mini adds ₹5/user/mo → 97.5% margin still</a:t>
            </a:r>
          </a:p>
          <a:p>
            <a:pPr>
              <a:spcBef>
                <a:spcPts val="400"/>
              </a:spcBef>
              <a:defRPr sz="1100">
                <a:solidFill>
                  <a:srgbClr val="CCCCCC"/>
                </a:solidFill>
                <a:latin typeface="Calibri"/>
              </a:defRPr>
            </a:pPr>
            <a:r>
              <a:t>▸  Upgrade to GPT-4o/Claude adds ₹80/user/mo → profitable at ₹299+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03520" cy="13716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17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💰  Revenue Streams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92240" y="164592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CCCCCC"/>
                </a:solidFill>
                <a:latin typeface="Calibri"/>
              </a:defRPr>
            </a:pPr>
            <a:r>
              <a:t>▸  B2C Subscriptions: Premium (₹199/mo) + Pro (₹499/mo)</a:t>
            </a:r>
          </a:p>
          <a:p>
            <a:pPr>
              <a:spcBef>
                <a:spcPts val="400"/>
              </a:spcBef>
              <a:defRPr sz="1100">
                <a:solidFill>
                  <a:srgbClr val="CCCCCC"/>
                </a:solidFill>
                <a:latin typeface="Calibri"/>
              </a:defRPr>
            </a:pPr>
            <a:r>
              <a:t>▸  B2B Enterprise: Coaching center white-label licensing</a:t>
            </a:r>
          </a:p>
          <a:p>
            <a:pPr>
              <a:spcBef>
                <a:spcPts val="400"/>
              </a:spcBef>
              <a:defRPr sz="1100">
                <a:solidFill>
                  <a:srgbClr val="CCCCCC"/>
                </a:solidFill>
                <a:latin typeface="Calibri"/>
              </a:defRPr>
            </a:pPr>
            <a:r>
              <a:t>▸  Content Marketplace: Curated question sets &amp; mock tests</a:t>
            </a:r>
          </a:p>
          <a:p>
            <a:pPr>
              <a:spcBef>
                <a:spcPts val="400"/>
              </a:spcBef>
              <a:defRPr sz="1100">
                <a:solidFill>
                  <a:srgbClr val="CCCCCC"/>
                </a:solidFill>
                <a:latin typeface="Calibri"/>
              </a:defRPr>
            </a:pPr>
            <a:r>
              <a:t>▸  Future: Ad revenue from free tier, affiliate (books/courses)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834640"/>
            <a:ext cx="10789920" cy="4114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880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Projected Revenue at Scale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246120"/>
            <a:ext cx="3657600" cy="301752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C4B5FD"/>
                </a:solidFill>
                <a:latin typeface="Calibri"/>
              </a:defRPr>
            </a:pPr>
            <a:r>
              <a:t>Metric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3246120"/>
            <a:ext cx="2377440" cy="301752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C4B5FD"/>
                </a:solidFill>
                <a:latin typeface="Calibri"/>
              </a:defRPr>
            </a:pPr>
            <a:r>
              <a:t>Year 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60" y="3246120"/>
            <a:ext cx="2377440" cy="301752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C4B5FD"/>
                </a:solidFill>
                <a:latin typeface="Calibri"/>
              </a:defRPr>
            </a:pPr>
            <a:r>
              <a:t>Year 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3246120"/>
            <a:ext cx="2377440" cy="301752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C4B5FD"/>
                </a:solidFill>
                <a:latin typeface="Calibri"/>
              </a:defRPr>
            </a:pPr>
            <a:r>
              <a:t>Year 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547872"/>
            <a:ext cx="3657600" cy="301752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BBF24"/>
                </a:solidFill>
                <a:latin typeface="Calibri"/>
              </a:defRPr>
            </a:pPr>
            <a:r>
              <a:t>Free users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3547872"/>
            <a:ext cx="2377440" cy="301752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10,000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0" y="3547872"/>
            <a:ext cx="2377440" cy="301752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50,000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3547872"/>
            <a:ext cx="2377440" cy="301752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200,000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849624"/>
            <a:ext cx="3657600" cy="301752"/>
          </a:xfrm>
          <a:prstGeom prst="rect">
            <a:avLst/>
          </a:prstGeom>
          <a:solidFill>
            <a:srgbClr val="151528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BBF24"/>
                </a:solidFill>
                <a:latin typeface="Calibri"/>
              </a:defRPr>
            </a:pPr>
            <a:r>
              <a:t>Conversion rate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0" y="3849624"/>
            <a:ext cx="2377440" cy="301752"/>
          </a:xfrm>
          <a:prstGeom prst="rect">
            <a:avLst/>
          </a:prstGeom>
          <a:solidFill>
            <a:srgbClr val="151528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3%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0" y="3849624"/>
            <a:ext cx="2377440" cy="301752"/>
          </a:xfrm>
          <a:prstGeom prst="rect">
            <a:avLst/>
          </a:prstGeom>
          <a:solidFill>
            <a:srgbClr val="151528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5%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0" y="3849624"/>
            <a:ext cx="2377440" cy="301752"/>
          </a:xfrm>
          <a:prstGeom prst="rect">
            <a:avLst/>
          </a:prstGeom>
          <a:solidFill>
            <a:srgbClr val="151528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8%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151376"/>
            <a:ext cx="3657600" cy="301752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BBF24"/>
                </a:solidFill>
                <a:latin typeface="Calibri"/>
              </a:defRPr>
            </a:pPr>
            <a:r>
              <a:t>Paying users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0" y="4151376"/>
            <a:ext cx="2377440" cy="301752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300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66560" y="4151376"/>
            <a:ext cx="2377440" cy="301752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2,500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0" y="4151376"/>
            <a:ext cx="2377440" cy="301752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16,000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4453128"/>
            <a:ext cx="3657600" cy="301752"/>
          </a:xfrm>
          <a:prstGeom prst="rect">
            <a:avLst/>
          </a:prstGeom>
          <a:solidFill>
            <a:srgbClr val="151528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BBF24"/>
                </a:solidFill>
                <a:latin typeface="Calibri"/>
              </a:defRPr>
            </a:pPr>
            <a:r>
              <a:t>Avg. revenue/user/mo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0" y="4453128"/>
            <a:ext cx="2377440" cy="301752"/>
          </a:xfrm>
          <a:prstGeom prst="rect">
            <a:avLst/>
          </a:prstGeom>
          <a:solidFill>
            <a:srgbClr val="151528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₹199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66560" y="4453128"/>
            <a:ext cx="2377440" cy="301752"/>
          </a:xfrm>
          <a:prstGeom prst="rect">
            <a:avLst/>
          </a:prstGeom>
          <a:solidFill>
            <a:srgbClr val="151528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₹249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0" y="4453128"/>
            <a:ext cx="2377440" cy="301752"/>
          </a:xfrm>
          <a:prstGeom prst="rect">
            <a:avLst/>
          </a:prstGeom>
          <a:solidFill>
            <a:srgbClr val="151528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₹299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4754880"/>
            <a:ext cx="3657600" cy="301752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BBF24"/>
                </a:solidFill>
                <a:latin typeface="Calibri"/>
              </a:defRPr>
            </a:pPr>
            <a:r>
              <a:t>Monthly recurring revenue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89120" y="4754880"/>
            <a:ext cx="2377440" cy="301752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₹60K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66560" y="4754880"/>
            <a:ext cx="2377440" cy="301752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34D399"/>
                </a:solidFill>
                <a:latin typeface="Calibri"/>
              </a:defRPr>
            </a:pPr>
            <a:r>
              <a:t>₹6.2L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4754880"/>
            <a:ext cx="2377440" cy="301752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34D399"/>
                </a:solidFill>
                <a:latin typeface="Calibri"/>
              </a:defRPr>
            </a:pPr>
            <a:r>
              <a:t>₹47.8L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5056632"/>
            <a:ext cx="3657600" cy="301752"/>
          </a:xfrm>
          <a:prstGeom prst="rect">
            <a:avLst/>
          </a:prstGeom>
          <a:solidFill>
            <a:srgbClr val="151528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BBF24"/>
                </a:solidFill>
                <a:latin typeface="Calibri"/>
              </a:defRPr>
            </a:pPr>
            <a:r>
              <a:t>Annual run rate (ARR)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89120" y="5056632"/>
            <a:ext cx="2377440" cy="301752"/>
          </a:xfrm>
          <a:prstGeom prst="rect">
            <a:avLst/>
          </a:prstGeom>
          <a:solidFill>
            <a:srgbClr val="151528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34D399"/>
                </a:solidFill>
                <a:latin typeface="Calibri"/>
              </a:defRPr>
            </a:pPr>
            <a:r>
              <a:t>₹7.2L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66560" y="5056632"/>
            <a:ext cx="2377440" cy="301752"/>
          </a:xfrm>
          <a:prstGeom prst="rect">
            <a:avLst/>
          </a:prstGeom>
          <a:solidFill>
            <a:srgbClr val="151528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34D399"/>
                </a:solidFill>
                <a:latin typeface="Calibri"/>
              </a:defRPr>
            </a:pPr>
            <a:r>
              <a:t>₹74.4L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5056632"/>
            <a:ext cx="2377440" cy="301752"/>
          </a:xfrm>
          <a:prstGeom prst="rect">
            <a:avLst/>
          </a:prstGeom>
          <a:solidFill>
            <a:srgbClr val="151528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34D399"/>
                </a:solidFill>
                <a:latin typeface="Calibri"/>
              </a:defRPr>
            </a:pPr>
            <a:r>
              <a:t>₹5.7Cr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5358384"/>
            <a:ext cx="3657600" cy="301752"/>
          </a:xfrm>
          <a:prstGeom prst="rect">
            <a:avLst/>
          </a:prstGeom>
          <a:solidFill>
            <a:srgbClr val="101020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i="1" b="0">
                <a:solidFill>
                  <a:srgbClr val="888888"/>
                </a:solidFill>
                <a:latin typeface="Calibri"/>
              </a:defRPr>
            </a:pPr>
            <a:r>
              <a:t>API cost (free tier)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0" y="5358384"/>
            <a:ext cx="2377440" cy="301752"/>
          </a:xfrm>
          <a:prstGeom prst="rect">
            <a:avLst/>
          </a:prstGeom>
          <a:solidFill>
            <a:srgbClr val="101020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i="1" b="0">
                <a:solidFill>
                  <a:srgbClr val="34D399"/>
                </a:solidFill>
                <a:latin typeface="Calibri"/>
              </a:defRPr>
            </a:pPr>
            <a:r>
              <a:t>₹0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66560" y="5358384"/>
            <a:ext cx="2377440" cy="301752"/>
          </a:xfrm>
          <a:prstGeom prst="rect">
            <a:avLst/>
          </a:prstGeom>
          <a:solidFill>
            <a:srgbClr val="101020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i="1" b="0">
                <a:solidFill>
                  <a:srgbClr val="34D399"/>
                </a:solidFill>
                <a:latin typeface="Calibri"/>
              </a:defRPr>
            </a:pPr>
            <a:r>
              <a:t>₹0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00" y="5358384"/>
            <a:ext cx="2377440" cy="301752"/>
          </a:xfrm>
          <a:prstGeom prst="rect">
            <a:avLst/>
          </a:prstGeom>
          <a:solidFill>
            <a:srgbClr val="101020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i="1" b="0">
                <a:solidFill>
                  <a:srgbClr val="34D399"/>
                </a:solidFill>
                <a:latin typeface="Calibri"/>
              </a:defRPr>
            </a:pPr>
            <a:r>
              <a:t>₹0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" y="5660136"/>
            <a:ext cx="3657600" cy="301752"/>
          </a:xfrm>
          <a:prstGeom prst="rect">
            <a:avLst/>
          </a:prstGeom>
          <a:solidFill>
            <a:srgbClr val="101020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i="1" b="0">
                <a:solidFill>
                  <a:srgbClr val="FBBF24"/>
                </a:solidFill>
                <a:latin typeface="Calibri"/>
              </a:defRPr>
            </a:pPr>
            <a:r>
              <a:t>API cost (GPT-4o-mini)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89120" y="5660136"/>
            <a:ext cx="2377440" cy="301752"/>
          </a:xfrm>
          <a:prstGeom prst="rect">
            <a:avLst/>
          </a:prstGeom>
          <a:solidFill>
            <a:srgbClr val="101020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i="1" b="0">
                <a:solidFill>
                  <a:srgbClr val="FBBF24"/>
                </a:solidFill>
                <a:latin typeface="Calibri"/>
              </a:defRPr>
            </a:pPr>
            <a:r>
              <a:t>₹1.5K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766560" y="5660136"/>
            <a:ext cx="2377440" cy="301752"/>
          </a:xfrm>
          <a:prstGeom prst="rect">
            <a:avLst/>
          </a:prstGeom>
          <a:solidFill>
            <a:srgbClr val="101020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i="1" b="0">
                <a:solidFill>
                  <a:srgbClr val="FBBF24"/>
                </a:solidFill>
                <a:latin typeface="Calibri"/>
              </a:defRPr>
            </a:pPr>
            <a:r>
              <a:t>₹12.5K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44000" y="5660136"/>
            <a:ext cx="2377440" cy="301752"/>
          </a:xfrm>
          <a:prstGeom prst="rect">
            <a:avLst/>
          </a:prstGeom>
          <a:solidFill>
            <a:srgbClr val="101020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i="1" b="0">
                <a:solidFill>
                  <a:srgbClr val="FBBF24"/>
                </a:solidFill>
                <a:latin typeface="Calibri"/>
              </a:defRPr>
            </a:pPr>
            <a:r>
              <a:t>₹80K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5961888"/>
            <a:ext cx="3657600" cy="301752"/>
          </a:xfrm>
          <a:prstGeom prst="rect">
            <a:avLst/>
          </a:prstGeom>
          <a:solidFill>
            <a:srgbClr val="101020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i="1" b="0">
                <a:solidFill>
                  <a:srgbClr val="FB7185"/>
                </a:solidFill>
                <a:latin typeface="Calibri"/>
              </a:defRPr>
            </a:pPr>
            <a:r>
              <a:t>API cost (GPT-4o/Claude)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89120" y="5961888"/>
            <a:ext cx="2377440" cy="301752"/>
          </a:xfrm>
          <a:prstGeom prst="rect">
            <a:avLst/>
          </a:prstGeom>
          <a:solidFill>
            <a:srgbClr val="101020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i="1" b="0">
                <a:solidFill>
                  <a:srgbClr val="FB7185"/>
                </a:solidFill>
                <a:latin typeface="Calibri"/>
              </a:defRPr>
            </a:pPr>
            <a:r>
              <a:t>₹24K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766560" y="5961888"/>
            <a:ext cx="2377440" cy="301752"/>
          </a:xfrm>
          <a:prstGeom prst="rect">
            <a:avLst/>
          </a:prstGeom>
          <a:solidFill>
            <a:srgbClr val="101020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i="1" b="0">
                <a:solidFill>
                  <a:srgbClr val="FB7185"/>
                </a:solidFill>
                <a:latin typeface="Calibri"/>
              </a:defRPr>
            </a:pPr>
            <a:r>
              <a:t>₹2L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00" y="5961888"/>
            <a:ext cx="2377440" cy="301752"/>
          </a:xfrm>
          <a:prstGeom prst="rect">
            <a:avLst/>
          </a:prstGeom>
          <a:solidFill>
            <a:srgbClr val="101020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i="1" b="0">
                <a:solidFill>
                  <a:srgbClr val="FB7185"/>
                </a:solidFill>
                <a:latin typeface="Calibri"/>
              </a:defRPr>
            </a:pPr>
            <a:r>
              <a:t>₹12.8L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Break-even: ~500 paid users (₹199/mo = ₹99.5K/mo). All API tiers remain highly profitable. Free tier sustains launch at zero inference cost.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Traction &amp; Milestones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474720" cy="15544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✅  AI Question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Multi-model pipeline working. 1,500+ questions/day free capacity.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554480"/>
            <a:ext cx="3474720" cy="15544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39" y="1691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✅  Cognitive Twin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39" y="2011680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Full implementation with gap lifecycle, retention tracking, exam weights.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554480"/>
            <a:ext cx="3474720" cy="15544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691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✅  Adaptive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011680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BKT-based with real-time difficulty, prerequisite chains, learner stages.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383280"/>
            <a:ext cx="3474720" cy="15544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5204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✅  Admin Portal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40480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Complete content management, quality center, learner support, analytics.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59" y="3383280"/>
            <a:ext cx="3474720" cy="15544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39" y="35204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✅  Current Affairs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39" y="3840480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Daily auto-fetch from NewsAPI. Categorized, with images. Live on Vercel.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3383280"/>
            <a:ext cx="3474720" cy="15544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35204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✅  Spaced Repetition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840480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SM-2 algorithm. Retention dashboard with heat maps and sparklines.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394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Next: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86000" y="5394960"/>
            <a:ext cx="9144000" cy="5486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68880" y="54406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BBF24"/>
                </a:solidFill>
                <a:latin typeface="Calibri"/>
              </a:defRPr>
            </a:pPr>
            <a:r>
              <a:t>Play Store / App Store launch  ·  Premium features  ·  Coaching center partnerships  ·  Other state PSC exams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14/16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Building the definitive AI learning platform for India's exam market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303520" cy="22860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💰  Seed Investment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9377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A78BFA"/>
                </a:solidFill>
                <a:latin typeface="Calibri"/>
              </a:defRPr>
            </a:pPr>
            <a:r>
              <a:t>$50,000 – $100,000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8346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Marketing &amp; user acquisition in Kerala</a:t>
            </a:r>
            <a:br/>
            <a:r>
              <a:t>Content partnerships with coaching centers</a:t>
            </a:r>
            <a:br/>
            <a:r>
              <a:t>Premium feature development</a:t>
            </a:r>
            <a:br/>
            <a:r>
              <a:t>Play Store / App Store launch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303520" cy="22860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🎯  What You 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9377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92240" y="210312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CCCCCC"/>
                </a:solidFill>
                <a:latin typeface="Calibri"/>
              </a:defRPr>
            </a:pPr>
            <a:r>
              <a:t>▸  Complete product: ~110 source files, full AI pipeline, admin backend</a:t>
            </a:r>
          </a:p>
          <a:p>
            <a:pPr>
              <a:spcBef>
                <a:spcPts val="400"/>
              </a:spcBef>
              <a:defRPr sz="1200">
                <a:solidFill>
                  <a:srgbClr val="CCCCCC"/>
                </a:solidFill>
                <a:latin typeface="Calibri"/>
              </a:defRPr>
            </a:pPr>
            <a:r>
              <a:t>▸  Modern stack: React Native + Supabase + Vercel — low burn rate</a:t>
            </a:r>
          </a:p>
          <a:p>
            <a:pPr>
              <a:spcBef>
                <a:spcPts val="400"/>
              </a:spcBef>
              <a:defRPr sz="1200">
                <a:solidFill>
                  <a:srgbClr val="CCCCCC"/>
                </a:solidFill>
                <a:latin typeface="Calibri"/>
              </a:defRPr>
            </a:pPr>
            <a:r>
              <a:t>▸  First-mover advantage in a 1M+ user market with zero competitors</a:t>
            </a:r>
          </a:p>
          <a:p>
            <a:pPr>
              <a:spcBef>
                <a:spcPts val="400"/>
              </a:spcBef>
              <a:defRPr sz="1200">
                <a:solidFill>
                  <a:srgbClr val="CCCCCC"/>
                </a:solidFill>
                <a:latin typeface="Calibri"/>
              </a:defRPr>
            </a:pPr>
            <a:r>
              <a:t>▸  Data moat: more users = smarter AI = stronger lock-in</a:t>
            </a:r>
          </a:p>
          <a:p>
            <a:pPr>
              <a:spcBef>
                <a:spcPts val="400"/>
              </a:spcBef>
              <a:defRPr sz="1200">
                <a:solidFill>
                  <a:srgbClr val="CCCCCC"/>
                </a:solidFill>
                <a:latin typeface="Calibri"/>
              </a:defRPr>
            </a:pPr>
            <a:r>
              <a:t>▸  Solo founder with full-stack + AI expertise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572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4B5FD"/>
                </a:solidFill>
                <a:latin typeface="Calibri"/>
              </a:defRPr>
            </a:pPr>
            <a:r>
              <a:t>"Lakshyam" means "target" in Malayalam.</a:t>
            </a:r>
            <a:br/>
            <a:r>
              <a:t>We help every aspirant hit theirs.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15/16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A78BFA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4B5FD"/>
                </a:solidFill>
                <a:latin typeface="Calibri"/>
              </a:defRPr>
            </a:pPr>
            <a:r>
              <a:t>Lakshyam — Your AI Coach for Kerala PSC Exams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Calibri"/>
              </a:defRPr>
            </a:pPr>
            <a:r>
              <a:t>Built by a solo developer  ·  React Native + Supabase + Vercel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