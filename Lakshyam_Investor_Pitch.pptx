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A78BFA"/>
                </a:solidFill>
                <a:latin typeface="Calibri"/>
              </a:defRPr>
            </a:pPr>
            <a:r>
              <a:t>Lakshyam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918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4B5FD"/>
                </a:solidFill>
                <a:latin typeface="Calibri"/>
              </a:defRPr>
            </a:pPr>
            <a:r>
              <a:t>AI-Powered Kerala PSC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389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8888"/>
                </a:solidFill>
                <a:latin typeface="Calibri"/>
              </a:defRPr>
            </a:pPr>
            <a:r>
              <a:t>Personalized learning for every aspirant.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669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  <a:latin typeface="Calibri"/>
              </a:defRPr>
            </a:pPr>
            <a:r>
              <a:t>Investor Pitch  |  June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PSC preparation is broken.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303520" cy="22860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?  Unknown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937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Students don't know what to study next. Without a personalized roadmap, they waste time on random topics.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03520" cy="22860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?  Wasted Repetition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937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They practice what they already know. Time is spent on familiar topics instead of weak areas.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06240"/>
            <a:ext cx="5303520" cy="22860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343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?  The Forgetting Curve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663440"/>
            <a:ext cx="4937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Concepts learned weeks ago are forgotten. No system reminds students what they're about to lose.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206240"/>
            <a:ext cx="5303520" cy="22860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343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?  No Guidance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663440"/>
            <a:ext cx="4937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No personalized feedback. No tutor who understands their specific gaps. Just static question banks.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One of India's largest recruitment ecosystems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Calibri"/>
              </a:defRPr>
            </a:pPr>
            <a:r>
              <a:t>Kerala PSC is among the largest state recruitment ecosystems in India. Hundreds of thousands of candidates compete for government jobs every year.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292608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2860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A78BFA"/>
                </a:solidFill>
                <a:latin typeface="Calibri"/>
              </a:defRPr>
            </a:pPr>
            <a:r>
              <a:t>500K+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0175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Active aspirants/year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2103120"/>
            <a:ext cx="292608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2860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A78BFA"/>
                </a:solidFill>
                <a:latin typeface="Calibri"/>
              </a:defRPr>
            </a:pPr>
            <a:r>
              <a:t>5+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30175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Exam types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2103120"/>
            <a:ext cx="292608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2860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A78BFA"/>
                </a:solidFill>
                <a:latin typeface="Calibri"/>
              </a:defRPr>
            </a:pPr>
            <a:r>
              <a:t>10,000+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0175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Coaching centers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206240"/>
            <a:ext cx="292608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3891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A78BFA"/>
                </a:solidFill>
                <a:latin typeface="Calibri"/>
              </a:defRPr>
            </a:pPr>
            <a:r>
              <a:t>96%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1206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Kerala literacy rate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4206240"/>
            <a:ext cx="292608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3891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A78BFA"/>
                </a:solidFill>
                <a:latin typeface="Calibri"/>
              </a:defRPr>
            </a:pPr>
            <a:r>
              <a:t>80%+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51206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Smartphone penetration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4206240"/>
            <a:ext cx="292608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3891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A78BFA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51206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Dedicated PSC apps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4B5FD"/>
                </a:solidFill>
                <a:latin typeface="Calibri"/>
              </a:defRPr>
            </a:pPr>
            <a:r>
              <a:t>The market is ready. The product doesn't exist yet.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existing solutions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Calibri"/>
              </a:defRPr>
            </a:pPr>
            <a:r>
              <a:t>Every student receives the same content. No solution adapts to individual learning needs.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011680"/>
            <a:ext cx="3200400" cy="54864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4297680" y="2011680"/>
            <a:ext cx="2286000" cy="54864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Books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2011680"/>
            <a:ext cx="2286000" cy="54864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Coaching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0" y="2011680"/>
            <a:ext cx="2286000" cy="54864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Apps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2560320"/>
            <a:ext cx="32004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CCCCCC"/>
                </a:solidFill>
                <a:latin typeface="Calibri"/>
              </a:defRPr>
            </a:pPr>
            <a:r>
              <a:t>Personalized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560320"/>
            <a:ext cx="22860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2560320"/>
            <a:ext cx="22860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0" y="2560320"/>
            <a:ext cx="22860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108960"/>
            <a:ext cx="3200400" cy="54864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CCCCCC"/>
                </a:solidFill>
                <a:latin typeface="Calibri"/>
              </a:defRPr>
            </a:pPr>
            <a:r>
              <a:t>Adaptive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3108960"/>
            <a:ext cx="2286000" cy="54864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3108960"/>
            <a:ext cx="2286000" cy="54864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69680" y="3108960"/>
            <a:ext cx="2286000" cy="54864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3657600"/>
            <a:ext cx="32004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CCCCCC"/>
                </a:solidFill>
                <a:latin typeface="Calibri"/>
              </a:defRPr>
            </a:pPr>
            <a:r>
              <a:t>Affordable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3657600"/>
            <a:ext cx="22860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34D399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657600"/>
            <a:ext cx="22860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0" y="3657600"/>
            <a:ext cx="22860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34D399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4206240"/>
            <a:ext cx="3200400" cy="54864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CCCCCC"/>
                </a:solidFill>
                <a:latin typeface="Calibri"/>
              </a:defRPr>
            </a:pPr>
            <a:r>
              <a:t>Malayalam support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4206240"/>
            <a:ext cx="2286000" cy="54864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34D399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4206240"/>
            <a:ext cx="2286000" cy="54864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34D399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4206240"/>
            <a:ext cx="2286000" cy="54864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7280" y="4754880"/>
            <a:ext cx="32004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CCCCCC"/>
                </a:solidFill>
                <a:latin typeface="Calibri"/>
              </a:defRPr>
            </a:pPr>
            <a:r>
              <a:t>Always fresh content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80" y="4754880"/>
            <a:ext cx="22860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0" y="4754880"/>
            <a:ext cx="22860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754880"/>
            <a:ext cx="22860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first AI-native learning platform built specifically for Kerala PSC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474720" cy="32004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Personalized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310896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AI generates unique questions matched to your exact weak areas — not generic question banks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59" y="2011680"/>
            <a:ext cx="3474720" cy="32004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39" y="2148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Malayalam AI Tutor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39" y="2468880"/>
            <a:ext cx="310896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Ask anything in Malayalam or English. Explains concepts, creates practice, clarifies doubts.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2011680"/>
            <a:ext cx="3474720" cy="32004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148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Adaptive Revision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468880"/>
            <a:ext cx="310896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Knows what you're about to forget and schedules review before you do. Spaced repetition built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Product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286000"/>
            <a:ext cx="1828800" cy="9144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4B5FD"/>
                </a:solidFill>
                <a:latin typeface="Calibri"/>
              </a:defRPr>
            </a:pPr>
            <a:r>
              <a:t>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560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888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2286000"/>
            <a:ext cx="1828800" cy="9144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4B5FD"/>
                </a:solidFill>
                <a:latin typeface="Calibri"/>
              </a:defRPr>
            </a:pPr>
            <a:r>
              <a:t>Detect</a:t>
            </a:r>
            <a:br/>
            <a:r>
              <a:t>Weakness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560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888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286000"/>
            <a:ext cx="1828800" cy="9144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4B5FD"/>
                </a:solidFill>
                <a:latin typeface="Calibri"/>
              </a:defRPr>
            </a:pPr>
            <a:r>
              <a:t>Recommend</a:t>
            </a:r>
            <a:br/>
            <a:r>
              <a:t>Next Topic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888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286000"/>
            <a:ext cx="1828800" cy="9144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4B5FD"/>
                </a:solidFill>
                <a:latin typeface="Calibri"/>
              </a:defRPr>
            </a:pPr>
            <a:r>
              <a:t>Generate</a:t>
            </a:r>
            <a:br/>
            <a:r>
              <a:t>Revision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560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888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2286000"/>
            <a:ext cx="1828800" cy="9144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4B5FD"/>
                </a:solidFill>
                <a:latin typeface="Calibri"/>
              </a:defRPr>
            </a:pPr>
            <a:r>
              <a:t>Improve</a:t>
            </a:r>
            <a:br/>
            <a:r>
              <a:t>Retention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57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4B5FD"/>
                </a:solidFill>
                <a:latin typeface="Calibri"/>
              </a:defRPr>
            </a:pPr>
            <a:r>
              <a:t>"Every interaction trains the model. No two students see the same path."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We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Calibri"/>
              </a:defRPr>
            </a:pPr>
            <a:r>
              <a:t>Every interaction creates learning data. This is a network-effects data moat that compounds over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2011680"/>
            <a:ext cx="5943600" cy="59436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C4B5FD"/>
                </a:solidFill>
                <a:latin typeface="Calibri"/>
              </a:defRPr>
            </a:pPr>
            <a:r>
              <a:t>More students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2606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2788920"/>
            <a:ext cx="5943600" cy="59436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C4B5FD"/>
                </a:solidFill>
                <a:latin typeface="Calibri"/>
              </a:defRPr>
            </a:pPr>
            <a:r>
              <a:t>Better understanding of PSC learning 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3383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3566160"/>
            <a:ext cx="5943600" cy="59436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C4B5FD"/>
                </a:solidFill>
                <a:latin typeface="Calibri"/>
              </a:defRPr>
            </a:pPr>
            <a:r>
              <a:t>Better recommendations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160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4343400"/>
            <a:ext cx="5943600" cy="59436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C4B5FD"/>
                </a:solidFill>
                <a:latin typeface="Calibri"/>
              </a:defRPr>
            </a:pPr>
            <a:r>
              <a:t>Better outcomes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4937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5120640"/>
            <a:ext cx="5943600" cy="59436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4D399"/>
                </a:solidFill>
                <a:latin typeface="Calibri"/>
              </a:defRPr>
            </a:pPr>
            <a:r>
              <a:t>More students -&gt; cycle repeats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486400"/>
            <a:ext cx="5303520" cy="10972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235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What we continuously 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9436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What each student knows · What they're forgetting · What they should learn next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5486400"/>
            <a:ext cx="5303520" cy="10972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56235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The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9436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Higher retention · Faster exam readiness · Competitors can't replicate years of learning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Competitive Positioning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114800" cy="64008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Capability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828800"/>
            <a:ext cx="2743200" cy="64008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Lakshyam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828800"/>
            <a:ext cx="2743200" cy="64008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Others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468880"/>
            <a:ext cx="41148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CCCCCC"/>
                </a:solidFill>
                <a:latin typeface="Calibri"/>
              </a:defRPr>
            </a:pPr>
            <a:r>
              <a:t>Kerala PSC Focus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0" y="2468880"/>
            <a:ext cx="27432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4D399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2468880"/>
            <a:ext cx="27432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BBF24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108960"/>
            <a:ext cx="4114800" cy="64008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CCCCCC"/>
                </a:solidFill>
                <a:latin typeface="Calibri"/>
              </a:defRPr>
            </a:pPr>
            <a:r>
              <a:t>Malayalam AI Tutor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3108960"/>
            <a:ext cx="2743200" cy="64008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4D399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108960"/>
            <a:ext cx="2743200" cy="64008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BBF24"/>
                </a:solidFill>
                <a:latin typeface="Calibri"/>
              </a:defRPr>
            </a:pPr>
            <a:r>
              <a:t>Limited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749040"/>
            <a:ext cx="41148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CCCCCC"/>
                </a:solidFill>
                <a:latin typeface="Calibri"/>
              </a:defRPr>
            </a:pPr>
            <a:r>
              <a:t>Adaptive Learning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0" y="3749040"/>
            <a:ext cx="27432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4D399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3749040"/>
            <a:ext cx="27432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B7185"/>
                </a:solidFill>
                <a:latin typeface="Calibri"/>
              </a:defRPr>
            </a:pPr>
            <a:r>
              <a:t>Rare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389120"/>
            <a:ext cx="4114800" cy="64008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CCCCCC"/>
                </a:solidFill>
                <a:latin typeface="Calibri"/>
              </a:defRPr>
            </a:pPr>
            <a:r>
              <a:t>Personalized Revision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389120"/>
            <a:ext cx="2743200" cy="64008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4D399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4389120"/>
            <a:ext cx="2743200" cy="64008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Monetization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Business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4389120" cy="27432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7830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Free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03120"/>
            <a:ext cx="40233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AI-generated questions</a:t>
            </a:r>
            <a:br/>
            <a:r>
              <a:t>Basic analytics</a:t>
            </a:r>
            <a:br/>
            <a:r>
              <a:t>Daily current affairs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38912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4D399"/>
                </a:solidFill>
                <a:latin typeface="Calibri"/>
              </a:defRPr>
            </a:pPr>
            <a:r>
              <a:t>Rs.0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4389120" cy="27432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7830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Premium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03120"/>
            <a:ext cx="40233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Unlimited questions</a:t>
            </a:r>
            <a:br/>
            <a:r>
              <a:t>Offline question bank</a:t>
            </a:r>
            <a:br/>
            <a:r>
              <a:t>Priority AI generation</a:t>
            </a:r>
            <a:br/>
            <a:r>
              <a:t>Detailed analytics</a:t>
            </a:r>
            <a:br/>
            <a:r>
              <a:t>Ad-free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38912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BBF24"/>
                </a:solidFill>
                <a:latin typeface="Calibri"/>
              </a:defRPr>
            </a:pPr>
            <a:r>
              <a:t>Rs.199/mo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029200"/>
            <a:ext cx="10789920" cy="13716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16636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Unit Economics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486400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1005840" y="53949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>
                <a:solidFill>
                  <a:srgbClr val="CCCCCC"/>
                </a:solidFill>
                <a:latin typeface="Calibri"/>
              </a:defRPr>
            </a:pPr>
            <a:r>
              <a:t>▸  AI inference cost per question: ~Rs.0.001 (free tier Groq+Gemini -&gt; Rs.0)</a:t>
            </a:r>
          </a:p>
          <a:p>
            <a:pPr>
              <a:spcBef>
                <a:spcPts val="400"/>
              </a:spcBef>
              <a:defRPr sz="1100">
                <a:solidFill>
                  <a:srgbClr val="CCCCCC"/>
                </a:solidFill>
                <a:latin typeface="Calibri"/>
              </a:defRPr>
            </a:pPr>
            <a:r>
              <a:t>▸  Premium at Rs.199/mo with 300 questions/user = Rs.0.30 AI cost -&gt; 99.85% gross margin</a:t>
            </a:r>
          </a:p>
          <a:p>
            <a:pPr>
              <a:spcBef>
                <a:spcPts val="400"/>
              </a:spcBef>
              <a:defRPr sz="1100">
                <a:solidFill>
                  <a:srgbClr val="CCCCCC"/>
                </a:solidFill>
                <a:latin typeface="Calibri"/>
              </a:defRPr>
            </a:pPr>
            <a:r>
              <a:t>▸  Even with GPT-4o-mini upgrade: Rs.5/user/mo -&gt; 97.5% margin</a:t>
            </a:r>
          </a:p>
          <a:p>
            <a:pPr>
              <a:spcBef>
                <a:spcPts val="400"/>
              </a:spcBef>
              <a:defRPr sz="1100">
                <a:solidFill>
                  <a:srgbClr val="CCCCCC"/>
                </a:solidFill>
                <a:latin typeface="Calibri"/>
              </a:defRPr>
            </a:pPr>
            <a:r>
              <a:t>▸  Coaching centers charge Rs.15,000-50,000/year per student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Go-To-Market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303520" cy="20116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PSC Telegram Groups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9377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Largest organic community of active aspirants. Direct access to target users at zero cost.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645920"/>
            <a:ext cx="5303520" cy="20116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83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YouTube Creators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103120"/>
            <a:ext cx="49377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Partner with PSC-focused YouTube creators for reviews, tutorials, and referral campaigns.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303520" cy="20116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Campus Ambassadors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89120"/>
            <a:ext cx="49377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College students preparing for PSC as brand advocates. Peer-driven organic growth.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931920"/>
            <a:ext cx="5303520" cy="20116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069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Referral Program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389120"/>
            <a:ext cx="49377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Viral growth through aspirant networks. Each user brings 2-3 peers preparing for same exams.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486400"/>
            <a:ext cx="10789920" cy="100584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62356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Coaching Partnerships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9436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White-label solution for 10,000+ coaching centers in Kerala. Reach their existing student base.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Traction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30352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Working MVP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937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Live on Vercel. Full AI question generation pipeline operational.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645920"/>
            <a:ext cx="530352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83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AI Question Generation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103120"/>
            <a:ext cx="4937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1,500+ questions per day free capacity. Multi-provider pipeline ensures uptime.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530352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Mobile App Prototype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4937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iOS + Android + Web from a single React Native codebase. Offline-first.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657600"/>
            <a:ext cx="530352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3794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Admin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114800"/>
            <a:ext cx="4937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Content management, analytics, learner support, current affairs publishing.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BBF24"/>
                </a:solidFill>
                <a:latin typeface="Calibri"/>
              </a:defRPr>
            </a:pPr>
            <a:r>
              <a:t>Next: Play Store / App Store launch  ·  Premium features  ·  Coaching center partnerships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From Kerala PSC to India's exam prep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74720" cy="36576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310896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LDC, Secretariat Assistant, University Assistant, Police, Degree 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4B5FD"/>
                </a:solidFill>
                <a:latin typeface="Calibri"/>
              </a:defRPr>
            </a:pPr>
            <a:r>
              <a:t>Kerala PSC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828800"/>
            <a:ext cx="3474720" cy="36576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39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39" y="2286000"/>
            <a:ext cx="310896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Tamil Nadu PSC  ·  Karnataka PSC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39" y="4114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BBF24"/>
                </a:solidFill>
                <a:latin typeface="Calibri"/>
              </a:defRPr>
            </a:pPr>
            <a:r>
              <a:t>Other State PSCs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828800"/>
            <a:ext cx="3474720" cy="36576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286000"/>
            <a:ext cx="310896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SSC  ·  Railway  ·  Banking  ·  UPSC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114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4D399"/>
                </a:solidFill>
                <a:latin typeface="Calibri"/>
              </a:defRPr>
            </a:pPr>
            <a:r>
              <a:t>National Exams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Timing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Now?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41148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AI Cost Collapse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310896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A78BFA"/>
                </a:solidFill>
                <a:latin typeface="Calibri"/>
              </a:defRPr>
            </a:pPr>
            <a:r>
              <a:t>99.85%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High-quality educational content can now be generated at near-zero cost. This wasn't possible 2 years ago.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645920"/>
            <a:ext cx="3474720" cy="41148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39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Regional-Language Boom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39" y="2103120"/>
            <a:ext cx="310896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4480559" y="22860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BBF24"/>
                </a:solidFill>
                <a:latin typeface="Calibri"/>
              </a:defRPr>
            </a:pPr>
            <a:r>
              <a:t>96%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320040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Malayalam digital content consumption is growing rapidly. Students expect content in their own language.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645920"/>
            <a:ext cx="3474720" cy="41148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Personalization Expectation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103120"/>
            <a:ext cx="310896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229600" y="22860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New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20040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Students expect personalized feeds (Instagram, YouTube, Netflix). They now expect the same from education.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4B5FD"/>
                </a:solidFill>
                <a:latin typeface="Calibri"/>
              </a:defRPr>
            </a:pPr>
            <a:r>
              <a:t>The window to establish a regional-language AI learning platform is now.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A78BFA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657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4B5FD"/>
                </a:solidFill>
                <a:latin typeface="Calibri"/>
              </a:defRPr>
            </a:pPr>
            <a:r>
              <a:t>Lakshyam — AI-Powered Kerala PSC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Calibri"/>
              </a:defRPr>
            </a:pPr>
            <a:r>
              <a:t>Built by a solo developer  ·  React Native + Supabase + Vercel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